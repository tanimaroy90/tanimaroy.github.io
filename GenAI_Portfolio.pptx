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96"/>
                </a:solidFill>
                <a:latin typeface="Calibri"/>
              </a:rPr>
              <a:t>PORTFOLIO PROJECT  · 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FFFFF"/>
                </a:solidFill>
                <a:latin typeface="Calibri"/>
              </a:rPr>
              <a:t>Using Generative AI to Improve</a:t>
            </a:r>
          </a:p>
          <a:p>
            <a:r>
              <a:rPr sz="3600" b="1">
                <a:solidFill>
                  <a:srgbClr val="00C896"/>
                </a:solidFill>
                <a:latin typeface="Calibri"/>
              </a:rPr>
              <a:t>Knowledge Retrieval</a:t>
            </a:r>
          </a:p>
          <a:p>
            <a:r>
              <a:rPr sz="2800" b="0">
                <a:solidFill>
                  <a:srgbClr val="FFFFFF"/>
                </a:solidFill>
                <a:latin typeface="Calibri"/>
              </a:rPr>
              <a:t>for Customer Service Representatives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BB"/>
                </a:solidFill>
                <a:latin typeface="Calibri"/>
              </a:rPr>
              <a:t>A RAG-powered assistant that helps CSRs find answers instantly
during high-volume Annual Enrollment periods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1284732" cy="320040"/>
          </a:xfrm>
          <a:prstGeom prst="rect">
            <a:avLst/>
          </a:prstGeom>
          <a:solidFill>
            <a:srgbClr val="222233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4956048"/>
            <a:ext cx="11932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EE"/>
                </a:solidFill>
                <a:latin typeface="Calibri"/>
              </a:rPr>
              <a:t>Generative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6291" y="4937760"/>
            <a:ext cx="1517904" cy="320040"/>
          </a:xfrm>
          <a:prstGeom prst="rect">
            <a:avLst/>
          </a:prstGeom>
          <a:solidFill>
            <a:srgbClr val="222233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46020" y="495604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EE"/>
                </a:solidFill>
                <a:latin typeface="Calibri"/>
              </a:rPr>
              <a:t>RAG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1356" y="4937760"/>
            <a:ext cx="1828800" cy="320040"/>
          </a:xfrm>
          <a:prstGeom prst="rect">
            <a:avLst/>
          </a:prstGeom>
          <a:solidFill>
            <a:srgbClr val="222233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1084" y="4956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EE"/>
                </a:solidFill>
                <a:latin typeface="Calibri"/>
              </a:rPr>
              <a:t>Knowledge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7316" y="4937760"/>
            <a:ext cx="1440180" cy="320040"/>
          </a:xfrm>
          <a:prstGeom prst="rect">
            <a:avLst/>
          </a:prstGeom>
          <a:solidFill>
            <a:srgbClr val="222233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67044" y="4956048"/>
            <a:ext cx="13487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EE"/>
                </a:solidFill>
                <a:latin typeface="Calibri"/>
              </a:rPr>
              <a:t>LLM Integration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34656" y="4937760"/>
            <a:ext cx="1284732" cy="320040"/>
          </a:xfrm>
          <a:prstGeom prst="rect">
            <a:avLst/>
          </a:prstGeom>
          <a:solidFill>
            <a:srgbClr val="222233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44383" y="4956048"/>
            <a:ext cx="11932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EE"/>
                </a:solidFill>
                <a:latin typeface="Calibri"/>
              </a:rPr>
              <a:t>Vector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0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7A"/>
                </a:solidFill>
                <a:latin typeface="Calibri"/>
              </a:rPr>
              <a:t>01 /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1" y="5803761"/>
            <a:ext cx="55869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  <a:latin typeface="Trebuchet MS" panose="020B0603020202020204" pitchFamily="34" charset="0"/>
              </a:rPr>
              <a:t>Tanima Roy</a:t>
            </a:r>
          </a:p>
          <a:p>
            <a:r>
              <a:rPr lang="en-US" sz="1200" dirty="0" smtClean="0">
                <a:solidFill>
                  <a:schemeClr val="bg2"/>
                </a:solidFill>
              </a:rPr>
              <a:t>Knowledge Management &amp; Documentation Professional</a:t>
            </a:r>
            <a:endParaRPr lang="en-IN" sz="1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01 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This Project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7A"/>
                </a:solidFill>
                <a:latin typeface="Calibri"/>
              </a:rPr>
              <a:t>During Annual Enrollment periods, Customer Service Representatives face a surge of benefit inquiries. The existing knowledge base creates critical bottlenecks: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5778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54864" cy="1691640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21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Fragmented 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517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Calibri"/>
              </a:rPr>
              <a:t>Articles are long, split across multiple pages, and hard to navigate quickly.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057400"/>
            <a:ext cx="55778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2057400"/>
            <a:ext cx="54864" cy="1691640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21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High Search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6517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Calibri"/>
              </a:rPr>
              <a:t>New CSRs spend 90–120 seconds per query searching — time better spent helping customers.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5778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4864" cy="1691640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879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Increased Handle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6177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Calibri"/>
              </a:rPr>
              <a:t>Average Handle Time (AHT) rises during peak periods, slowing overall service delivery.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023360"/>
            <a:ext cx="55778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4023360"/>
            <a:ext cx="54864" cy="1691640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latin typeface="Calibri"/>
              </a:rP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1879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Inconsistent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6177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Calibri"/>
              </a:rPr>
              <a:t>Different agents find different articles — leading to variable customer experiences.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>
                <a:solidFill>
                  <a:srgbClr val="AAA098"/>
                </a:solidFill>
              </a:rPr>
              <a:t>Tanima Roy  ·  AI-Enhanced Knowledge Discovery  ·  Portfolio Case Study</a:t>
            </a:r>
            <a:endParaRPr lang="en-GB" sz="800" dirty="0">
              <a:solidFill>
                <a:srgbClr val="AAA098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0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7A"/>
                </a:solidFill>
                <a:latin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02  PROJECT GOAL &amp; TARGET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 Set Out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7A"/>
                </a:solidFill>
                <a:latin typeface="Calibri"/>
              </a:rPr>
              <a:t>Design a Generative AI–powered knowledge assistant that retrieves relevant articles instantly,
generates concise answers, and provides source references from the knowledge 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65176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Search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392B"/>
                </a:solidFill>
                <a:latin typeface="Calibri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Calibri"/>
              </a:rPr>
              <a:t>90–120 sec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1737360" cy="18288"/>
          </a:xfrm>
          <a:prstGeom prst="rect">
            <a:avLst/>
          </a:prstGeom>
          <a:solidFill>
            <a:srgbClr val="E0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060"/>
                </a:solidFill>
                <a:latin typeface="Calibri"/>
              </a:rPr>
              <a:t>WITH GENAI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307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96"/>
                </a:solidFill>
                <a:latin typeface="Calibri"/>
              </a:rPr>
              <a:t>30–40 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519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7A"/>
                </a:solidFill>
                <a:latin typeface="Calibri"/>
              </a:rPr>
              <a:t>Per 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1840" y="2011680"/>
            <a:ext cx="265176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2103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Handle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697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392B"/>
                </a:solidFill>
                <a:latin typeface="Calibri"/>
              </a:rPr>
              <a:t>BEFORE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926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Calibri"/>
              </a:rPr>
              <a:t>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3383280"/>
            <a:ext cx="1737360" cy="18288"/>
          </a:xfrm>
          <a:prstGeom prst="rect">
            <a:avLst/>
          </a:prstGeom>
          <a:solidFill>
            <a:srgbClr val="E0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3474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060"/>
                </a:solidFill>
                <a:latin typeface="Calibri"/>
              </a:rPr>
              <a:t>WITH GENAI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7307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96"/>
                </a:solidFill>
                <a:latin typeface="Calibri"/>
              </a:rPr>
              <a:t>↓ 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2519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7A"/>
                </a:solidFill>
                <a:latin typeface="Calibri"/>
              </a:rPr>
              <a:t>Projected reduction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2011680"/>
            <a:ext cx="265176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2103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CSR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97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392B"/>
                </a:solidFill>
                <a:latin typeface="Calibri"/>
              </a:rPr>
              <a:t>BEFORE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926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Calibri"/>
              </a:rPr>
              <a:t>Low (new agents)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383280"/>
            <a:ext cx="1737360" cy="18288"/>
          </a:xfrm>
          <a:prstGeom prst="rect">
            <a:avLst/>
          </a:prstGeom>
          <a:solidFill>
            <a:srgbClr val="E0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3474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060"/>
                </a:solidFill>
                <a:latin typeface="Calibri"/>
              </a:rPr>
              <a:t>WITH GENAI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7307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96"/>
                </a:solidFill>
                <a:latin typeface="Calibri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2519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7A"/>
                </a:solidFill>
                <a:latin typeface="Calibri"/>
              </a:rPr>
              <a:t>Guided responses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61120" y="2011680"/>
            <a:ext cx="265176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80" y="2103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Answer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2697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0392B"/>
                </a:solidFill>
                <a:latin typeface="Calibri"/>
              </a:rPr>
              <a:t>BEFORE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2926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  <a:latin typeface="Calibri"/>
              </a:rPr>
              <a:t>Variable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3383280"/>
            <a:ext cx="1737360" cy="18288"/>
          </a:xfrm>
          <a:prstGeom prst="rect">
            <a:avLst/>
          </a:prstGeom>
          <a:solidFill>
            <a:srgbClr val="E0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8280" y="3474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060"/>
                </a:solidFill>
                <a:latin typeface="Calibri"/>
              </a:rPr>
              <a:t>WITH GENAI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7307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96"/>
                </a:solidFill>
                <a:latin typeface="Calibri"/>
              </a:rPr>
              <a:t>Standardized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42519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7A"/>
                </a:solidFill>
                <a:latin typeface="Calibri"/>
              </a:rPr>
              <a:t>Consistent CX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>
                <a:solidFill>
                  <a:srgbClr val="AAA098"/>
                </a:solidFill>
              </a:rPr>
              <a:t>Tanima Roy  ·  AI-Enhanced Knowledge Discovery  ·  Portfolio Case Study</a:t>
            </a:r>
            <a:endParaRPr lang="en-GB" sz="800" dirty="0">
              <a:solidFill>
                <a:srgbClr val="AAA098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972800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7A"/>
                </a:solidFill>
                <a:latin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03  PROPOSED SOLUTION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RAG-Based GenAI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4FFF"/>
                </a:solidFill>
                <a:latin typeface="Calibri"/>
              </a:rPr>
              <a:t>RETRIEVAL AUGMENTED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7A"/>
                </a:solidFill>
                <a:latin typeface="Calibri"/>
              </a:rPr>
              <a:t>A RAG pipeline integrates with the existing Knowledge Base to deliver instant, accurate, and sourced answers to CSRs.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4FFF"/>
                </a:solidFill>
                <a:latin typeface="Calibri"/>
              </a:rPr>
              <a:t>Vector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Pinecone / FAISS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2095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4FFF"/>
                </a:solidFill>
                <a:latin typeface="Calibri"/>
              </a:rPr>
              <a:t>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OpenAI / Sentence Transformers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8953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4FFF"/>
                </a:solidFill>
                <a:latin typeface="Calibri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148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GPT-4 / Claude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5811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4FFF"/>
                </a:solidFill>
                <a:latin typeface="Calibri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00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KB Content Ingestion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548640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307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Calibri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371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FFF"/>
                </a:solidFill>
                <a:latin typeface="Calibri"/>
              </a:rPr>
              <a:t>CSR Types Question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1892808"/>
            <a:ext cx="36576" cy="347472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2240280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313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Calibri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377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6070"/>
                </a:solidFill>
                <a:latin typeface="Calibri"/>
              </a:rPr>
              <a:t>Semantic Search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898648"/>
            <a:ext cx="36576" cy="347472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246120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3319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Calibri"/>
              </a:rPr>
              <a:t>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383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6070"/>
                </a:solidFill>
                <a:latin typeface="Calibri"/>
              </a:rPr>
              <a:t>Knowledge Articles Retrieved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3904488"/>
            <a:ext cx="36576" cy="347472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251960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4325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Calibri"/>
              </a:rP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389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6070"/>
                </a:solidFill>
                <a:latin typeface="Calibri"/>
              </a:rPr>
              <a:t>GenAI Summarizes &amp; Generates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4910328"/>
            <a:ext cx="36576" cy="347472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5257800"/>
            <a:ext cx="5486400" cy="640080"/>
          </a:xfrm>
          <a:prstGeom prst="rect">
            <a:avLst/>
          </a:prstGeom>
          <a:solidFill>
            <a:srgbClr val="E8FDF6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5330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latin typeface="Calibri"/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394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  <a:latin typeface="Calibri"/>
              </a:rPr>
              <a:t>CSR Receives Answer + Source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>
                <a:solidFill>
                  <a:srgbClr val="AAA098"/>
                </a:solidFill>
              </a:rPr>
              <a:t>Tanima Roy  ·  AI-Enhanced Knowledge Discovery  ·  Portfolio Case Study</a:t>
            </a:r>
            <a:endParaRPr lang="en-GB" sz="800" dirty="0">
              <a:solidFill>
                <a:srgbClr val="AAA098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972800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7A"/>
                </a:solidFill>
                <a:latin typeface="Calibr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04  SAMPLE CSR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GenAI in Action — Live Demo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1A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4FFF"/>
                </a:solidFill>
                <a:latin typeface="Calibri"/>
              </a:rPr>
              <a:t>CSR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0F"/>
                </a:solidFill>
                <a:latin typeface="Calibri"/>
              </a:rPr>
              <a:t>"Can employees add dependents during Annual Enrollment?"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3611880"/>
          </a:xfrm>
          <a:prstGeom prst="rect">
            <a:avLst/>
          </a:prstGeom>
          <a:solidFill>
            <a:srgbClr val="E8FDF6"/>
          </a:solidFill>
          <a:ln w="127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404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060"/>
                </a:solidFill>
                <a:latin typeface="Calibri"/>
              </a:rPr>
              <a:t>AI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Answer: Employees can add eligible dependents during the Annual Enrollment period. The change becomes effective on January 1 of the following year.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Calibri"/>
              </a:rPr>
              <a:t>1.  Log in to the Benefits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7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Calibri"/>
              </a:rPr>
              <a:t>2.  Select  Manage Dependents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7997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Calibri"/>
              </a:rPr>
              <a:t>3.  Upload required documentation (if applicable)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5546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A0F"/>
                </a:solidFill>
                <a:latin typeface="Calibri"/>
              </a:rPr>
              <a:t>4.  Submit changes before the enrollment deadline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solidFill>
            <a:srgbClr val="CCF5E8"/>
          </a:solidFill>
          <a:ln w="63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6045"/>
                </a:solidFill>
                <a:latin typeface="Calibri"/>
              </a:rPr>
              <a:t>📄  Source: Knowledge Article – "Dependent Eligibility and Enrollment Guidelines"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>
                <a:solidFill>
                  <a:srgbClr val="AAA098"/>
                </a:solidFill>
              </a:rPr>
              <a:t>Tanima Roy  ·  AI-Enhanced Knowledge Discovery  ·  Portfolio Case Study</a:t>
            </a:r>
            <a:endParaRPr lang="en-GB" sz="800" dirty="0">
              <a:solidFill>
                <a:srgbClr val="AAA09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7A"/>
                </a:solidFill>
                <a:latin typeface="Calibr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05  KNOWLEDGE MANAGEMENT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GenAI Transforms the KB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77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" cy="2286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90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Intelligent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20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Calibri"/>
              </a:rPr>
              <a:t>Traditional: Keyword matching only
With GenAI: Semantic understanding of intent
Example: 'change health plan' → modify benefits, update coverage, switch insurance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5577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325880"/>
            <a:ext cx="54864" cy="2286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46303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490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Content Summarization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202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Calibri"/>
              </a:rPr>
              <a:t>Traditional: CSR reads 2,000-word SOPs
With GenAI: Instant 5-line actionable summary
Long articles become quick, structured answers for 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5577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54864" cy="2286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🕵️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59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Knowledge Gap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891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Calibri"/>
              </a:rPr>
              <a:t>AI logs all unanswered / low-confidence queries
KM team can identify: missing articles, outdated content, and frequently searched topics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794760"/>
            <a:ext cx="55778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3794760"/>
            <a:ext cx="54864" cy="2286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Calibri"/>
              </a:rPr>
              <a:t>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959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Coverage 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3891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7A"/>
                </a:solidFill>
                <a:latin typeface="Calibri"/>
              </a:rPr>
              <a:t>5 mock knowledge base articles:
· Health Plan Enrollment
· Dependent Eligibility
· Coverage Changes
· Enrollment Deadlines
· Premium Deductions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>
                <a:solidFill>
                  <a:srgbClr val="AAA098"/>
                </a:solidFill>
              </a:rPr>
              <a:t>Tanima Roy  ·  AI-Enhanced Knowledge Discovery  ·  Portfolio Case Study</a:t>
            </a:r>
            <a:endParaRPr lang="en-GB" sz="800" dirty="0">
              <a:solidFill>
                <a:srgbClr val="AAA098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972800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7A"/>
                </a:solidFill>
                <a:latin typeface="Calibr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06  BEFORE VS.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CSR Experience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94960" cy="5120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94960" cy="548640"/>
          </a:xfrm>
          <a:prstGeom prst="rect">
            <a:avLst/>
          </a:prstGeom>
          <a:solidFill>
            <a:srgbClr val="F8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❌  WITHOUT GENAI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F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📖  CSR reads 3+ articles manually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78608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F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633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⏱  2–3 minutes per 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36976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F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⚠️  High error rate &amp; inconsistency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95344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F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950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📉  Low confidence for new 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53712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F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6085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🔎  Keyword-only search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212079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F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😓  Agents feel overwhelmed during peaks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234440"/>
            <a:ext cx="5394960" cy="5120640"/>
          </a:xfrm>
          <a:prstGeom prst="rect">
            <a:avLst/>
          </a:prstGeom>
          <a:solidFill>
            <a:srgbClr val="E8FDF6"/>
          </a:solidFill>
          <a:ln w="12700">
            <a:solidFill>
              <a:srgbClr val="B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1234440"/>
            <a:ext cx="5394960" cy="548640"/>
          </a:xfrm>
          <a:prstGeom prst="rect">
            <a:avLst/>
          </a:prstGeom>
          <a:solidFill>
            <a:srgbClr val="CC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60"/>
                </a:solidFill>
                <a:latin typeface="Calibri"/>
              </a:rPr>
              <a:t>✅  WITH GENAI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20240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B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56248" y="19751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⚡  AI delivers answer instantly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578608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B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6248" y="2633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⏱  Under 30 seconds per 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236976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B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56248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✅  Standardized, consistent answers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895344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B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56248" y="3950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📈  New agents onboard faster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553712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B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56248" y="46085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🧠  Semantic intent understanding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212079"/>
            <a:ext cx="53035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B2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56248" y="526694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😊  Agents handle more calls with confidence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>
                <a:solidFill>
                  <a:srgbClr val="AAA098"/>
                </a:solidFill>
              </a:rPr>
              <a:t>Tanima Roy  ·  AI-Enhanced Knowledge Discovery  ·  Portfolio Case Study</a:t>
            </a:r>
            <a:endParaRPr lang="en-GB" sz="800" dirty="0">
              <a:solidFill>
                <a:srgbClr val="AAA098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72800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7A"/>
                </a:solidFill>
                <a:latin typeface="Calibr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07  EXPECTED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Measurable Value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latin typeface="Calibr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544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0F"/>
                </a:solidFill>
                <a:latin typeface="Calibri"/>
              </a:rPr>
              <a:t>Reduced Handle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1168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Calibri"/>
              </a:rPr>
              <a:t>CSRs spend less time searching and more time resolving customer issues.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880360"/>
            <a:ext cx="20116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1A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9352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FF"/>
                </a:solidFill>
                <a:latin typeface="Calibri"/>
              </a:rPr>
              <a:t>↓ 40% AHT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325880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latin typeface="Calibri"/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5544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0F"/>
                </a:solidFill>
                <a:latin typeface="Calibri"/>
              </a:rPr>
              <a:t>Faster 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01168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Calibri"/>
              </a:rPr>
              <a:t>New agents ramp up quickly with AI-guided responses — no deep KB expertise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2880360"/>
            <a:ext cx="20116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1A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29352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FF"/>
                </a:solidFill>
                <a:latin typeface="Calibri"/>
              </a:rPr>
              <a:t>Reduced ramp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latin typeface="Calibr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776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0F"/>
                </a:solidFill>
                <a:latin typeface="Calibri"/>
              </a:rPr>
              <a:t>Consistent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3484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Calibri"/>
              </a:rPr>
              <a:t>Every CSR delivers the same accurate information — reducing misinformation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5303520"/>
            <a:ext cx="20116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1A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535838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FF"/>
                </a:solidFill>
                <a:latin typeface="Calibri"/>
              </a:rPr>
              <a:t>Standardized CX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3749039"/>
            <a:ext cx="55778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931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latin typeface="Calibri"/>
              </a:rPr>
              <a:t>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9776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A0F"/>
                </a:solidFill>
                <a:latin typeface="Calibri"/>
              </a:rPr>
              <a:t>KM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43484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Calibri"/>
              </a:rPr>
              <a:t>Query logs surface gaps in the knowledge base for continuous improvement.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5303520"/>
            <a:ext cx="20116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1A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535838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FF"/>
                </a:solidFill>
                <a:latin typeface="Calibri"/>
              </a:rPr>
              <a:t>Data-driven KB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00" dirty="0">
                <a:solidFill>
                  <a:srgbClr val="AAA098"/>
                </a:solidFill>
              </a:rPr>
              <a:t>Tanima Roy  ·  AI-Enhanced Knowledge Discovery  ·  Portfolio Case Study</a:t>
            </a:r>
            <a:endParaRPr lang="en-GB" sz="800" dirty="0">
              <a:solidFill>
                <a:srgbClr val="AAA098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0" y="6601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6B7A"/>
                </a:solidFill>
                <a:latin typeface="Calibri"/>
              </a:rPr>
              <a:t>08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AAABB"/>
                </a:solidFill>
                <a:latin typeface="Calibri"/>
              </a:rPr>
              <a:t>Empowering CSRs with the right answers at the right time —
through Generative AI and intelligent knowledge retrieval.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434840"/>
            <a:ext cx="5788152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7A"/>
                </a:solidFill>
                <a:latin typeface="Calibri"/>
              </a:rPr>
              <a:t>Generative AI  ·  RAG Architecture  ·  Knowledge Management  ·  Customer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707</Words>
  <Application>Microsoft Office PowerPoint</Application>
  <PresentationFormat>Custom</PresentationFormat>
  <Paragraphs>153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~USER~</dc:creator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2026-03-06T21:36:19Z</dcterms:modified>
  <cp:category/>
  <cp:contentStatus/>
</cp:coreProperties>
</file>